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6ebca6cc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6ebca6cc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6ebca6cc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6ebca6cc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6ebca6cc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6ebca6cc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6ebca6cc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6ebca6cc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6ebca6cc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6ebca6cc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6ebca6cc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6ebca6cc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144575" y="554775"/>
            <a:ext cx="8271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ru" sz="1800">
                <a:solidFill>
                  <a:srgbClr val="000000"/>
                </a:solidFill>
              </a:rPr>
              <a:t>L1. Обеспечение готовности автомобиля к поездке AS-IS</a:t>
            </a:r>
            <a:endParaRPr sz="280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0275"/>
            <a:ext cx="9144002" cy="3049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144575" y="554775"/>
            <a:ext cx="8271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ru" sz="1800">
                <a:solidFill>
                  <a:srgbClr val="000000"/>
                </a:solidFill>
              </a:rPr>
              <a:t>L1. Обеспечение готовности автомобиля к поездке TO-BE</a:t>
            </a:r>
            <a:endParaRPr sz="2800"/>
          </a:p>
        </p:txBody>
      </p:sp>
      <p:pic>
        <p:nvPicPr>
          <p:cNvPr id="93" name="Google Shape;93;p14" title="L1 Обеспечение готовности автомобиля к поездке_with_overlays (1).png"/>
          <p:cNvPicPr preferRelativeResize="0"/>
          <p:nvPr/>
        </p:nvPicPr>
        <p:blipFill rotWithShape="1">
          <a:blip r:embed="rId3">
            <a:alphaModFix/>
          </a:blip>
          <a:srcRect b="21564" l="0" r="0" t="19696"/>
          <a:stretch/>
        </p:blipFill>
        <p:spPr>
          <a:xfrm>
            <a:off x="0" y="1714475"/>
            <a:ext cx="9143997" cy="2662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144575" y="554775"/>
            <a:ext cx="8271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rgbClr val="000000"/>
                </a:solidFill>
              </a:rPr>
              <a:t>L2. Процесс операционной команды</a:t>
            </a:r>
            <a:endParaRPr sz="1800"/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14288" l="0" r="0" t="0"/>
          <a:stretch/>
        </p:blipFill>
        <p:spPr>
          <a:xfrm>
            <a:off x="207800" y="1216100"/>
            <a:ext cx="8936200" cy="3668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144575" y="554775"/>
            <a:ext cx="8271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rgbClr val="000000"/>
                </a:solidFill>
              </a:rPr>
              <a:t>L2. Процесс операционной команды</a:t>
            </a:r>
            <a:endParaRPr sz="1800"/>
          </a:p>
        </p:txBody>
      </p:sp>
      <p:pic>
        <p:nvPicPr>
          <p:cNvPr id="105" name="Google Shape;105;p16" title="L2 операционной команды_with_overlays (1).png"/>
          <p:cNvPicPr preferRelativeResize="0"/>
          <p:nvPr/>
        </p:nvPicPr>
        <p:blipFill rotWithShape="1">
          <a:blip r:embed="rId3">
            <a:alphaModFix/>
          </a:blip>
          <a:srcRect b="18831" l="0" r="0" t="0"/>
          <a:stretch/>
        </p:blipFill>
        <p:spPr>
          <a:xfrm>
            <a:off x="76200" y="1324300"/>
            <a:ext cx="8991601" cy="3617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268150" y="554775"/>
            <a:ext cx="8271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rgbClr val="000000"/>
                </a:solidFill>
              </a:rPr>
              <a:t>L2. Процесс формирования отчёта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3">
            <a:alphaModFix/>
          </a:blip>
          <a:srcRect b="36330" l="0" r="0" t="0"/>
          <a:stretch/>
        </p:blipFill>
        <p:spPr>
          <a:xfrm>
            <a:off x="67450" y="1707800"/>
            <a:ext cx="9009099" cy="2747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268150" y="554775"/>
            <a:ext cx="8271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rgbClr val="000000"/>
                </a:solidFill>
              </a:rPr>
              <a:t>L2. Процесс формирования отчёта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117" name="Google Shape;117;p18" title="L2 формирование отчета_with_overlays (1).png"/>
          <p:cNvPicPr preferRelativeResize="0"/>
          <p:nvPr/>
        </p:nvPicPr>
        <p:blipFill rotWithShape="1">
          <a:blip r:embed="rId3">
            <a:alphaModFix/>
          </a:blip>
          <a:srcRect b="35770" l="0" r="0" t="0"/>
          <a:stretch/>
        </p:blipFill>
        <p:spPr>
          <a:xfrm>
            <a:off x="0" y="1631575"/>
            <a:ext cx="9144003" cy="2910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